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28"/>
  </p:notesMasterIdLst>
  <p:handoutMasterIdLst>
    <p:handoutMasterId r:id="rId29"/>
  </p:handoutMasterIdLst>
  <p:sldIdLst>
    <p:sldId id="256"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6" r:id="rId18"/>
    <p:sldId id="278" r:id="rId19"/>
    <p:sldId id="279" r:id="rId20"/>
    <p:sldId id="280" r:id="rId21"/>
    <p:sldId id="287" r:id="rId22"/>
    <p:sldId id="281" r:id="rId23"/>
    <p:sldId id="282" r:id="rId24"/>
    <p:sldId id="283" r:id="rId25"/>
    <p:sldId id="284" r:id="rId26"/>
    <p:sldId id="28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4/1/2026</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4/1/2026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4/1/2026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4/1/2026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a:xfrm>
            <a:off x="2088695" y="1465263"/>
            <a:ext cx="8791575" cy="2387600"/>
          </a:xfrm>
        </p:spPr>
        <p:txBody>
          <a:bodyPr>
            <a:normAutofit/>
          </a:bodyPr>
          <a:lstStyle/>
          <a:p>
            <a:r>
              <a:rPr lang="en-IN" sz="5400" b="1" dirty="0"/>
              <a:t>AI-Driven Voice-Based Healthcare Framework</a:t>
            </a:r>
            <a:endParaRPr lang="en-IN" sz="5400" dirty="0"/>
          </a:p>
        </p:txBody>
      </p:sp>
      <p:sp>
        <p:nvSpPr>
          <p:cNvPr id="3" name="Subtitle 2">
            <a:extLst>
              <a:ext uri="{FF2B5EF4-FFF2-40B4-BE49-F238E27FC236}">
                <a16:creationId xmlns:a16="http://schemas.microsoft.com/office/drawing/2014/main" id="{2E78725B-6E40-4D82-B375-7831D81C29EE}"/>
              </a:ext>
            </a:extLst>
          </p:cNvPr>
          <p:cNvSpPr>
            <a:spLocks noGrp="1"/>
          </p:cNvSpPr>
          <p:nvPr>
            <p:ph type="subTitle" idx="1"/>
          </p:nvPr>
        </p:nvSpPr>
        <p:spPr>
          <a:xfrm>
            <a:off x="1778452" y="4671560"/>
            <a:ext cx="8791575" cy="1655762"/>
          </a:xfrm>
        </p:spPr>
        <p:txBody>
          <a:bodyPr>
            <a:normAutofit/>
          </a:bodyPr>
          <a:lstStyle/>
          <a:p>
            <a:pPr algn="r"/>
            <a:r>
              <a:rPr lang="en-US" sz="2400" dirty="0">
                <a:latin typeface="Tahoma" panose="020B0604030504040204" pitchFamily="34" charset="0"/>
                <a:ea typeface="Tahoma" panose="020B0604030504040204" pitchFamily="34" charset="0"/>
                <a:cs typeface="Tahoma" panose="020B0604030504040204" pitchFamily="34" charset="0"/>
              </a:rPr>
              <a:t>Harsha Vardhan Kosuru</a:t>
            </a:r>
          </a:p>
          <a:p>
            <a:pPr algn="r"/>
            <a:r>
              <a:rPr lang="en-US" sz="2400" dirty="0">
                <a:latin typeface="Tahoma" panose="020B0604030504040204" pitchFamily="34" charset="0"/>
                <a:ea typeface="Tahoma" panose="020B0604030504040204" pitchFamily="34" charset="0"/>
                <a:cs typeface="Tahoma" panose="020B0604030504040204" pitchFamily="34" charset="0"/>
              </a:rPr>
              <a:t>12210058</a:t>
            </a: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p:txBody>
          <a:bodyPr>
            <a:normAutofit/>
          </a:bodyPr>
          <a:lstStyle/>
          <a:p>
            <a:pPr algn="ctr"/>
            <a:r>
              <a:rPr lang="en-IN" sz="4400" dirty="0"/>
              <a:t>Introduction</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p:txBody>
          <a:bodyPr vert="horz" lIns="91440" tIns="45720" rIns="91440" bIns="45720" rtlCol="0" anchor="t">
            <a:normAutofit fontScale="85000" lnSpcReduction="20000"/>
          </a:bodyPr>
          <a:lstStyle/>
          <a:p>
            <a:pPr lvl="0"/>
            <a:r>
              <a:rPr lang="en-US" dirty="0"/>
              <a:t>Advances in Artificial Intelligence (AI), speech processing, and cloud technologies are transforming digital healthcare. Traditional healthcare systems often face issues such as limited accessibility, long waiting times, and restricted interaction between patients and doctors. Telemedicine platforms improved access but still rely mostly on text chats or video consultations, which do not fully capture natural communication or detailed health information.</a:t>
            </a:r>
          </a:p>
          <a:p>
            <a:pPr lvl="0"/>
            <a:r>
              <a:rPr lang="en-US" dirty="0"/>
              <a:t>The AI-Driven Voice-Based Healthcare Framework improves telemedicine by enabling patients to communicate naturally through voice. The AI system listens, analyzes symptoms, asks follow-up questions, and generates structured medical reports automatically. This approach combines conversational AI, cloud computing, and healthcare automation to provide accessible and personalized digital healthcare support.</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02613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EFC15-E118-4B20-330B-18CB46A62F8C}"/>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C5EFA81-C475-7714-7532-F72FEF65BBA8}"/>
              </a:ext>
            </a:extLst>
          </p:cNvPr>
          <p:cNvSpPr>
            <a:spLocks noGrp="1"/>
          </p:cNvSpPr>
          <p:nvPr>
            <p:ph idx="1"/>
          </p:nvPr>
        </p:nvSpPr>
        <p:spPr/>
        <p:txBody>
          <a:bodyPr/>
          <a:lstStyle/>
          <a:p>
            <a:r>
              <a:rPr lang="en-US" dirty="0"/>
              <a:t>Existing telemedicine solutions often lack natural interaction and structured medical data collection. Patients must manually describe symptoms through text or short video consultations, which can lead to incomplete or unclear medical information. There is also limited automation in generating consultation summaries or reports, leading to inefficiencies and longer consultation times.</a:t>
            </a:r>
          </a:p>
          <a:p>
            <a:endParaRPr lang="en-IN" dirty="0"/>
          </a:p>
        </p:txBody>
      </p:sp>
    </p:spTree>
    <p:extLst>
      <p:ext uri="{BB962C8B-B14F-4D97-AF65-F5344CB8AC3E}">
        <p14:creationId xmlns:p14="http://schemas.microsoft.com/office/powerpoint/2010/main" val="4101337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84CD8-1CA6-8CF8-1CBC-E8C9266521D4}"/>
              </a:ext>
            </a:extLst>
          </p:cNvPr>
          <p:cNvSpPr>
            <a:spLocks noGrp="1"/>
          </p:cNvSpPr>
          <p:nvPr>
            <p:ph type="title"/>
          </p:nvPr>
        </p:nvSpPr>
        <p:spPr/>
        <p:txBody>
          <a:bodyPr/>
          <a:lstStyle/>
          <a:p>
            <a:r>
              <a:rPr lang="en-IN" b="1" dirty="0"/>
              <a:t>Motivation</a:t>
            </a:r>
            <a:br>
              <a:rPr lang="en-IN" b="1" dirty="0"/>
            </a:br>
            <a:endParaRPr lang="en-IN" dirty="0"/>
          </a:p>
        </p:txBody>
      </p:sp>
      <p:sp>
        <p:nvSpPr>
          <p:cNvPr id="3" name="Content Placeholder 2">
            <a:extLst>
              <a:ext uri="{FF2B5EF4-FFF2-40B4-BE49-F238E27FC236}">
                <a16:creationId xmlns:a16="http://schemas.microsoft.com/office/drawing/2014/main" id="{2F2B5C18-A97E-7B80-29B7-B0F0AA4BF652}"/>
              </a:ext>
            </a:extLst>
          </p:cNvPr>
          <p:cNvSpPr>
            <a:spLocks noGrp="1"/>
          </p:cNvSpPr>
          <p:nvPr>
            <p:ph idx="1"/>
          </p:nvPr>
        </p:nvSpPr>
        <p:spPr/>
        <p:txBody>
          <a:bodyPr/>
          <a:lstStyle/>
          <a:p>
            <a:r>
              <a:rPr lang="en-US" dirty="0"/>
              <a:t>Healthcare accessibility remains a challenge, especially in rural or underserved areas. Many patients lack quick access to doctors and hesitate to visit hospitals for minor issues. Automated voice-based healthcare assistance can provide preliminary support, reduce consultation load, and help users receive immediate guidance. This motivates the creation of an intelligent, voice-driven healthcare assistant.</a:t>
            </a:r>
          </a:p>
          <a:p>
            <a:endParaRPr lang="en-IN" dirty="0"/>
          </a:p>
        </p:txBody>
      </p:sp>
    </p:spTree>
    <p:extLst>
      <p:ext uri="{BB962C8B-B14F-4D97-AF65-F5344CB8AC3E}">
        <p14:creationId xmlns:p14="http://schemas.microsoft.com/office/powerpoint/2010/main" val="442844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71B0D-64E1-9A01-FBB4-ED8CEA707B37}"/>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91162D10-3DE3-B66C-BF58-755D87385C45}"/>
              </a:ext>
            </a:extLst>
          </p:cNvPr>
          <p:cNvSpPr>
            <a:spLocks noGrp="1" noChangeArrowheads="1"/>
          </p:cNvSpPr>
          <p:nvPr>
            <p:ph idx="1"/>
          </p:nvPr>
        </p:nvSpPr>
        <p:spPr bwMode="auto">
          <a:xfrm>
            <a:off x="1141413" y="2097088"/>
            <a:ext cx="772839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 voice-based AI system capable of doctor-like consultation.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Automatically extract symptoms and generate structured medical reports.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healthcare accessibility through remote consultation support.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 real-time symptom monitoring and predictive insights.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 secure and privacy-aware medical data handling.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 doctor workload through automated data summarization.</a:t>
            </a:r>
          </a:p>
        </p:txBody>
      </p:sp>
    </p:spTree>
    <p:extLst>
      <p:ext uri="{BB962C8B-B14F-4D97-AF65-F5344CB8AC3E}">
        <p14:creationId xmlns:p14="http://schemas.microsoft.com/office/powerpoint/2010/main" val="2137499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6E85-6160-8CEC-2110-F41C2DD2C4DE}"/>
              </a:ext>
            </a:extLst>
          </p:cNvPr>
          <p:cNvSpPr>
            <a:spLocks noGrp="1"/>
          </p:cNvSpPr>
          <p:nvPr>
            <p:ph type="title"/>
          </p:nvPr>
        </p:nvSpPr>
        <p:spPr>
          <a:xfrm>
            <a:off x="888320" y="406247"/>
            <a:ext cx="9905998" cy="1478570"/>
          </a:xfrm>
        </p:spPr>
        <p:txBody>
          <a:bodyPr/>
          <a:lstStyle/>
          <a:p>
            <a:pPr algn="ctr"/>
            <a:r>
              <a:rPr lang="en-IN" dirty="0"/>
              <a:t>Literature Review</a:t>
            </a:r>
          </a:p>
        </p:txBody>
      </p:sp>
      <p:sp>
        <p:nvSpPr>
          <p:cNvPr id="3" name="Content Placeholder 2">
            <a:extLst>
              <a:ext uri="{FF2B5EF4-FFF2-40B4-BE49-F238E27FC236}">
                <a16:creationId xmlns:a16="http://schemas.microsoft.com/office/drawing/2014/main" id="{9AB81DBD-F199-65C9-D5E6-131E21691CF5}"/>
              </a:ext>
            </a:extLst>
          </p:cNvPr>
          <p:cNvSpPr>
            <a:spLocks noGrp="1"/>
          </p:cNvSpPr>
          <p:nvPr>
            <p:ph idx="1"/>
          </p:nvPr>
        </p:nvSpPr>
        <p:spPr>
          <a:xfrm>
            <a:off x="1141413" y="3237365"/>
            <a:ext cx="9905999" cy="3541714"/>
          </a:xfrm>
        </p:spPr>
        <p:txBody>
          <a:bodyPr/>
          <a:lstStyle/>
          <a:p>
            <a:r>
              <a:rPr lang="en-US" dirty="0"/>
              <a:t>Digital healthcare solutions have grown rapidly due to advancements in AI and cloud computing. Telemedicine platforms expanded significantly during global health emergencies, demonstrating the importance of remote healthcare solutions. However, many systems still lack intelligent conversational interaction.</a:t>
            </a:r>
            <a:endParaRPr lang="en-IN" dirty="0"/>
          </a:p>
        </p:txBody>
      </p:sp>
      <p:sp>
        <p:nvSpPr>
          <p:cNvPr id="4" name="Title 1">
            <a:extLst>
              <a:ext uri="{FF2B5EF4-FFF2-40B4-BE49-F238E27FC236}">
                <a16:creationId xmlns:a16="http://schemas.microsoft.com/office/drawing/2014/main" id="{2169D108-6B1D-DC93-B079-3103A96FF6F5}"/>
              </a:ext>
            </a:extLst>
          </p:cNvPr>
          <p:cNvSpPr txBox="1">
            <a:spLocks/>
          </p:cNvSpPr>
          <p:nvPr/>
        </p:nvSpPr>
        <p:spPr>
          <a:xfrm>
            <a:off x="1141413" y="1583491"/>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Evolution of Digital Healthcare Systems</a:t>
            </a:r>
            <a:endParaRPr lang="en-IN" dirty="0"/>
          </a:p>
        </p:txBody>
      </p:sp>
    </p:spTree>
    <p:extLst>
      <p:ext uri="{BB962C8B-B14F-4D97-AF65-F5344CB8AC3E}">
        <p14:creationId xmlns:p14="http://schemas.microsoft.com/office/powerpoint/2010/main" val="2236920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9114-D428-C2C6-D41E-8F68662835C8}"/>
              </a:ext>
            </a:extLst>
          </p:cNvPr>
          <p:cNvSpPr>
            <a:spLocks noGrp="1"/>
          </p:cNvSpPr>
          <p:nvPr>
            <p:ph type="title"/>
          </p:nvPr>
        </p:nvSpPr>
        <p:spPr/>
        <p:txBody>
          <a:bodyPr/>
          <a:lstStyle/>
          <a:p>
            <a:r>
              <a:rPr lang="en-IN" dirty="0"/>
              <a:t>Voice Interaction in Healthcare</a:t>
            </a:r>
          </a:p>
        </p:txBody>
      </p:sp>
      <p:sp>
        <p:nvSpPr>
          <p:cNvPr id="3" name="Content Placeholder 2">
            <a:extLst>
              <a:ext uri="{FF2B5EF4-FFF2-40B4-BE49-F238E27FC236}">
                <a16:creationId xmlns:a16="http://schemas.microsoft.com/office/drawing/2014/main" id="{8A1B7925-6374-AEA6-FE74-8744250DE039}"/>
              </a:ext>
            </a:extLst>
          </p:cNvPr>
          <p:cNvSpPr>
            <a:spLocks noGrp="1"/>
          </p:cNvSpPr>
          <p:nvPr>
            <p:ph idx="1"/>
          </p:nvPr>
        </p:nvSpPr>
        <p:spPr/>
        <p:txBody>
          <a:bodyPr/>
          <a:lstStyle/>
          <a:p>
            <a:r>
              <a:rPr lang="en-US" dirty="0"/>
              <a:t>Voice-based AI systems and virtual assistants have improved accessibility across industries. Voice interaction allows users to communicate naturally without typing, making technology easier to use for elderly patients and those with limited technical skills.</a:t>
            </a:r>
          </a:p>
          <a:p>
            <a:endParaRPr lang="en-IN" dirty="0"/>
          </a:p>
        </p:txBody>
      </p:sp>
    </p:spTree>
    <p:extLst>
      <p:ext uri="{BB962C8B-B14F-4D97-AF65-F5344CB8AC3E}">
        <p14:creationId xmlns:p14="http://schemas.microsoft.com/office/powerpoint/2010/main" val="107316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96CF-2914-F0C0-EA65-F7BAA1A90814}"/>
              </a:ext>
            </a:extLst>
          </p:cNvPr>
          <p:cNvSpPr>
            <a:spLocks noGrp="1"/>
          </p:cNvSpPr>
          <p:nvPr>
            <p:ph type="title"/>
          </p:nvPr>
        </p:nvSpPr>
        <p:spPr/>
        <p:txBody>
          <a:bodyPr/>
          <a:lstStyle/>
          <a:p>
            <a:r>
              <a:rPr lang="en-IN" dirty="0"/>
              <a:t>Existing Healthcare Chatbots</a:t>
            </a:r>
          </a:p>
        </p:txBody>
      </p:sp>
      <p:sp>
        <p:nvSpPr>
          <p:cNvPr id="3" name="Content Placeholder 2">
            <a:extLst>
              <a:ext uri="{FF2B5EF4-FFF2-40B4-BE49-F238E27FC236}">
                <a16:creationId xmlns:a16="http://schemas.microsoft.com/office/drawing/2014/main" id="{E6AB43B7-7B93-6D98-B9D3-C04800A36478}"/>
              </a:ext>
            </a:extLst>
          </p:cNvPr>
          <p:cNvSpPr>
            <a:spLocks noGrp="1"/>
          </p:cNvSpPr>
          <p:nvPr>
            <p:ph idx="1"/>
          </p:nvPr>
        </p:nvSpPr>
        <p:spPr/>
        <p:txBody>
          <a:bodyPr/>
          <a:lstStyle/>
          <a:p>
            <a:r>
              <a:rPr lang="en-US" dirty="0"/>
              <a:t>Current healthcare chatbots assist users through rule-based symptom questionnaires. While helpful, these systems often lack intelligent conversation handling and fail to produce structured consultation summaries for future medical use.</a:t>
            </a:r>
            <a:endParaRPr lang="en-IN" dirty="0"/>
          </a:p>
        </p:txBody>
      </p:sp>
    </p:spTree>
    <p:extLst>
      <p:ext uri="{BB962C8B-B14F-4D97-AF65-F5344CB8AC3E}">
        <p14:creationId xmlns:p14="http://schemas.microsoft.com/office/powerpoint/2010/main" val="1621970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3E13-1279-8FE8-4CD6-3E704CFB93B3}"/>
              </a:ext>
            </a:extLst>
          </p:cNvPr>
          <p:cNvSpPr>
            <a:spLocks noGrp="1"/>
          </p:cNvSpPr>
          <p:nvPr>
            <p:ph type="title"/>
          </p:nvPr>
        </p:nvSpPr>
        <p:spPr/>
        <p:txBody>
          <a:bodyPr/>
          <a:lstStyle/>
          <a:p>
            <a:r>
              <a:rPr lang="en-IN" dirty="0"/>
              <a:t>Limitations of Current Systems</a:t>
            </a:r>
          </a:p>
        </p:txBody>
      </p:sp>
      <p:sp>
        <p:nvSpPr>
          <p:cNvPr id="3" name="Content Placeholder 2">
            <a:extLst>
              <a:ext uri="{FF2B5EF4-FFF2-40B4-BE49-F238E27FC236}">
                <a16:creationId xmlns:a16="http://schemas.microsoft.com/office/drawing/2014/main" id="{B5A879DD-E31F-5498-BBBA-81DC52554ABA}"/>
              </a:ext>
            </a:extLst>
          </p:cNvPr>
          <p:cNvSpPr>
            <a:spLocks noGrp="1"/>
          </p:cNvSpPr>
          <p:nvPr>
            <p:ph idx="1"/>
          </p:nvPr>
        </p:nvSpPr>
        <p:spPr/>
        <p:txBody>
          <a:bodyPr/>
          <a:lstStyle/>
          <a:p>
            <a:r>
              <a:rPr lang="en-US" dirty="0"/>
              <a:t>Existing digital healthcare solutions suffer from limited personalization, inability to maintain conversation context, scalability issues during peak usage, and challenges in maintaining patient data privacy and security. Many systems also lack predictive analysis features.</a:t>
            </a:r>
            <a:endParaRPr lang="en-IN" dirty="0"/>
          </a:p>
        </p:txBody>
      </p:sp>
    </p:spTree>
    <p:extLst>
      <p:ext uri="{BB962C8B-B14F-4D97-AF65-F5344CB8AC3E}">
        <p14:creationId xmlns:p14="http://schemas.microsoft.com/office/powerpoint/2010/main" val="2127415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2E5FE-5218-A20A-09F5-5AE22619AFC8}"/>
              </a:ext>
            </a:extLst>
          </p:cNvPr>
          <p:cNvSpPr>
            <a:spLocks noGrp="1"/>
          </p:cNvSpPr>
          <p:nvPr>
            <p:ph type="title"/>
          </p:nvPr>
        </p:nvSpPr>
        <p:spPr/>
        <p:txBody>
          <a:bodyPr/>
          <a:lstStyle/>
          <a:p>
            <a:r>
              <a:rPr lang="en-IN" dirty="0"/>
              <a:t>Research Gap Identified</a:t>
            </a:r>
          </a:p>
        </p:txBody>
      </p:sp>
      <p:sp>
        <p:nvSpPr>
          <p:cNvPr id="3" name="Content Placeholder 2">
            <a:extLst>
              <a:ext uri="{FF2B5EF4-FFF2-40B4-BE49-F238E27FC236}">
                <a16:creationId xmlns:a16="http://schemas.microsoft.com/office/drawing/2014/main" id="{CACEEEEF-BE1E-0ECC-A1D0-DEC93140E6D7}"/>
              </a:ext>
            </a:extLst>
          </p:cNvPr>
          <p:cNvSpPr>
            <a:spLocks noGrp="1"/>
          </p:cNvSpPr>
          <p:nvPr>
            <p:ph idx="1"/>
          </p:nvPr>
        </p:nvSpPr>
        <p:spPr/>
        <p:txBody>
          <a:bodyPr/>
          <a:lstStyle/>
          <a:p>
            <a:r>
              <a:rPr lang="en-US" dirty="0"/>
              <a:t>Literature analysis shows that few systems integrate voice-based consultation, automated report generation, predictive monitoring, and scalable architecture into a single solution. This gap motivates the development of the proposed intelligent framework.</a:t>
            </a:r>
            <a:endParaRPr lang="en-IN" dirty="0"/>
          </a:p>
        </p:txBody>
      </p:sp>
    </p:spTree>
    <p:extLst>
      <p:ext uri="{BB962C8B-B14F-4D97-AF65-F5344CB8AC3E}">
        <p14:creationId xmlns:p14="http://schemas.microsoft.com/office/powerpoint/2010/main" val="1147277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6D9E1-FA23-F52E-E925-8FBD93D9CA7B}"/>
              </a:ext>
            </a:extLst>
          </p:cNvPr>
          <p:cNvSpPr>
            <a:spLocks noGrp="1"/>
          </p:cNvSpPr>
          <p:nvPr>
            <p:ph type="title"/>
          </p:nvPr>
        </p:nvSpPr>
        <p:spPr/>
        <p:txBody>
          <a:bodyPr/>
          <a:lstStyle/>
          <a:p>
            <a:r>
              <a:rPr lang="en-IN" dirty="0"/>
              <a:t>Contribution of Proposed Framework</a:t>
            </a:r>
          </a:p>
        </p:txBody>
      </p:sp>
      <p:sp>
        <p:nvSpPr>
          <p:cNvPr id="3" name="Content Placeholder 2">
            <a:extLst>
              <a:ext uri="{FF2B5EF4-FFF2-40B4-BE49-F238E27FC236}">
                <a16:creationId xmlns:a16="http://schemas.microsoft.com/office/drawing/2014/main" id="{B1F94914-03F9-25F6-2E65-A78FE3DE6AB7}"/>
              </a:ext>
            </a:extLst>
          </p:cNvPr>
          <p:cNvSpPr>
            <a:spLocks noGrp="1"/>
          </p:cNvSpPr>
          <p:nvPr>
            <p:ph idx="1"/>
          </p:nvPr>
        </p:nvSpPr>
        <p:spPr/>
        <p:txBody>
          <a:bodyPr/>
          <a:lstStyle/>
          <a:p>
            <a:r>
              <a:rPr lang="en-US" dirty="0"/>
              <a:t>The proposed system introduces a voice-enabled AI healthcare assistant capable of real-time consultation, automated medical documentation, predictive symptom monitoring, secure data management, and scalable deployment, addressing limitations identified in previous research.</a:t>
            </a:r>
          </a:p>
          <a:p>
            <a:endParaRPr lang="en-IN" dirty="0"/>
          </a:p>
        </p:txBody>
      </p:sp>
    </p:spTree>
    <p:extLst>
      <p:ext uri="{BB962C8B-B14F-4D97-AF65-F5344CB8AC3E}">
        <p14:creationId xmlns:p14="http://schemas.microsoft.com/office/powerpoint/2010/main" val="3612688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FE167-D36D-BCB4-8A2F-C73797091AFE}"/>
              </a:ext>
            </a:extLst>
          </p:cNvPr>
          <p:cNvSpPr>
            <a:spLocks noGrp="1"/>
          </p:cNvSpPr>
          <p:nvPr>
            <p:ph type="title"/>
          </p:nvPr>
        </p:nvSpPr>
        <p:spPr>
          <a:xfrm>
            <a:off x="1141412" y="226632"/>
            <a:ext cx="9905998" cy="1478570"/>
          </a:xfrm>
        </p:spPr>
        <p:txBody>
          <a:bodyPr/>
          <a:lstStyle/>
          <a:p>
            <a:pPr algn="ctr"/>
            <a:r>
              <a:rPr lang="en-IN" dirty="0"/>
              <a:t>Research Paper Analysis</a:t>
            </a:r>
          </a:p>
        </p:txBody>
      </p:sp>
      <p:sp>
        <p:nvSpPr>
          <p:cNvPr id="3" name="Content Placeholder 2">
            <a:extLst>
              <a:ext uri="{FF2B5EF4-FFF2-40B4-BE49-F238E27FC236}">
                <a16:creationId xmlns:a16="http://schemas.microsoft.com/office/drawing/2014/main" id="{7624722D-E139-284E-4EBD-85815055EC53}"/>
              </a:ext>
            </a:extLst>
          </p:cNvPr>
          <p:cNvSpPr>
            <a:spLocks noGrp="1"/>
          </p:cNvSpPr>
          <p:nvPr>
            <p:ph idx="1"/>
          </p:nvPr>
        </p:nvSpPr>
        <p:spPr>
          <a:xfrm>
            <a:off x="1141411" y="2959780"/>
            <a:ext cx="9905999" cy="3541714"/>
          </a:xfrm>
        </p:spPr>
        <p:txBody>
          <a:bodyPr/>
          <a:lstStyle/>
          <a:p>
            <a:r>
              <a:rPr lang="en-US" dirty="0"/>
              <a:t>An extensive literature review was performed using approximately </a:t>
            </a:r>
            <a:r>
              <a:rPr lang="en-US" b="1" dirty="0"/>
              <a:t>50 research papers</a:t>
            </a:r>
            <a:r>
              <a:rPr lang="en-US" dirty="0"/>
              <a:t> collected from IEEE Xplore, ResearchGate, NCBI, and healthcare technology journals. These papers covered conversational AI, telemedicine systems, virtual assistants, and automated healthcare solutions.</a:t>
            </a:r>
            <a:endParaRPr lang="en-IN" dirty="0"/>
          </a:p>
        </p:txBody>
      </p:sp>
      <p:sp>
        <p:nvSpPr>
          <p:cNvPr id="4" name="Title 1">
            <a:extLst>
              <a:ext uri="{FF2B5EF4-FFF2-40B4-BE49-F238E27FC236}">
                <a16:creationId xmlns:a16="http://schemas.microsoft.com/office/drawing/2014/main" id="{FAF68E31-AF71-0B93-4DB6-02F7DD857D9C}"/>
              </a:ext>
            </a:extLst>
          </p:cNvPr>
          <p:cNvSpPr txBox="1">
            <a:spLocks/>
          </p:cNvSpPr>
          <p:nvPr/>
        </p:nvSpPr>
        <p:spPr>
          <a:xfrm>
            <a:off x="1141411" y="1349639"/>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IN" dirty="0"/>
              <a:t>Literature Survey Overview</a:t>
            </a:r>
          </a:p>
        </p:txBody>
      </p:sp>
    </p:spTree>
    <p:extLst>
      <p:ext uri="{BB962C8B-B14F-4D97-AF65-F5344CB8AC3E}">
        <p14:creationId xmlns:p14="http://schemas.microsoft.com/office/powerpoint/2010/main" val="280112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7F60E-2981-7933-21FD-E5A7B531DC8F}"/>
              </a:ext>
            </a:extLst>
          </p:cNvPr>
          <p:cNvSpPr>
            <a:spLocks noGrp="1"/>
          </p:cNvSpPr>
          <p:nvPr>
            <p:ph type="title"/>
          </p:nvPr>
        </p:nvSpPr>
        <p:spPr>
          <a:xfrm>
            <a:off x="1141411" y="980693"/>
            <a:ext cx="9905998" cy="1478570"/>
          </a:xfrm>
        </p:spPr>
        <p:txBody>
          <a:bodyPr/>
          <a:lstStyle/>
          <a:p>
            <a:r>
              <a:rPr lang="en-US" dirty="0"/>
              <a:t>Selection of Top Research Papers</a:t>
            </a:r>
            <a:endParaRPr lang="en-IN" dirty="0"/>
          </a:p>
        </p:txBody>
      </p:sp>
      <p:sp>
        <p:nvSpPr>
          <p:cNvPr id="3" name="Content Placeholder 2">
            <a:extLst>
              <a:ext uri="{FF2B5EF4-FFF2-40B4-BE49-F238E27FC236}">
                <a16:creationId xmlns:a16="http://schemas.microsoft.com/office/drawing/2014/main" id="{5CB9351C-A719-9F74-97AB-CC4CE53E0E76}"/>
              </a:ext>
            </a:extLst>
          </p:cNvPr>
          <p:cNvSpPr>
            <a:spLocks noGrp="1"/>
          </p:cNvSpPr>
          <p:nvPr>
            <p:ph idx="1"/>
          </p:nvPr>
        </p:nvSpPr>
        <p:spPr>
          <a:xfrm>
            <a:off x="1141410" y="2519947"/>
            <a:ext cx="9905999" cy="3541714"/>
          </a:xfrm>
        </p:spPr>
        <p:txBody>
          <a:bodyPr/>
          <a:lstStyle/>
          <a:p>
            <a:r>
              <a:rPr lang="en-US" dirty="0"/>
              <a:t>From the collected research pool, </a:t>
            </a:r>
            <a:r>
              <a:rPr lang="en-US" b="1" dirty="0"/>
              <a:t>20 high-quality Scopus and SCI-indexed papers</a:t>
            </a:r>
            <a:r>
              <a:rPr lang="en-US" dirty="0"/>
              <a:t> were selected based on relevance, citation impact, and technical contribution. These papers provided strong foundations for system design and research direction.</a:t>
            </a:r>
            <a:endParaRPr lang="en-IN" dirty="0"/>
          </a:p>
        </p:txBody>
      </p:sp>
    </p:spTree>
    <p:extLst>
      <p:ext uri="{BB962C8B-B14F-4D97-AF65-F5344CB8AC3E}">
        <p14:creationId xmlns:p14="http://schemas.microsoft.com/office/powerpoint/2010/main" val="3352954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FEF74-211E-D612-89AB-58C0E542D37A}"/>
              </a:ext>
            </a:extLst>
          </p:cNvPr>
          <p:cNvSpPr>
            <a:spLocks noGrp="1"/>
          </p:cNvSpPr>
          <p:nvPr>
            <p:ph type="title"/>
          </p:nvPr>
        </p:nvSpPr>
        <p:spPr>
          <a:xfrm>
            <a:off x="1141412" y="202140"/>
            <a:ext cx="9905998" cy="1478570"/>
          </a:xfrm>
        </p:spPr>
        <p:txBody>
          <a:bodyPr/>
          <a:lstStyle/>
          <a:p>
            <a:r>
              <a:rPr lang="en-IN" dirty="0"/>
              <a:t>Key Observations from Literature</a:t>
            </a:r>
          </a:p>
        </p:txBody>
      </p:sp>
      <p:sp>
        <p:nvSpPr>
          <p:cNvPr id="3" name="Content Placeholder 2">
            <a:extLst>
              <a:ext uri="{FF2B5EF4-FFF2-40B4-BE49-F238E27FC236}">
                <a16:creationId xmlns:a16="http://schemas.microsoft.com/office/drawing/2014/main" id="{9FC0E052-7AEE-B2A3-6F9A-A9DC5F6F7690}"/>
              </a:ext>
            </a:extLst>
          </p:cNvPr>
          <p:cNvSpPr>
            <a:spLocks noGrp="1"/>
          </p:cNvSpPr>
          <p:nvPr>
            <p:ph idx="1"/>
          </p:nvPr>
        </p:nvSpPr>
        <p:spPr>
          <a:xfrm>
            <a:off x="1223055" y="1253444"/>
            <a:ext cx="9905999" cy="3541714"/>
          </a:xfrm>
        </p:spPr>
        <p:txBody>
          <a:bodyPr/>
          <a:lstStyle/>
          <a:p>
            <a:r>
              <a:rPr lang="en-US" dirty="0"/>
              <a:t>Literature findings demonstrate that conversational AI improves patient engagement, automation reduces doctor workload, and voice-based interaction increases usability. However, integration challenges remain in healthcare applications.</a:t>
            </a:r>
            <a:endParaRPr lang="en-IN" b="1" dirty="0"/>
          </a:p>
        </p:txBody>
      </p:sp>
      <p:sp>
        <p:nvSpPr>
          <p:cNvPr id="4" name="Title 1">
            <a:extLst>
              <a:ext uri="{FF2B5EF4-FFF2-40B4-BE49-F238E27FC236}">
                <a16:creationId xmlns:a16="http://schemas.microsoft.com/office/drawing/2014/main" id="{EC966E0D-6EC8-854D-25EC-B4E6BD74D3F7}"/>
              </a:ext>
            </a:extLst>
          </p:cNvPr>
          <p:cNvSpPr txBox="1">
            <a:spLocks/>
          </p:cNvSpPr>
          <p:nvPr/>
        </p:nvSpPr>
        <p:spPr>
          <a:xfrm>
            <a:off x="1141412" y="3052309"/>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IN" dirty="0"/>
              <a:t>Gap Summary and Justification</a:t>
            </a:r>
          </a:p>
        </p:txBody>
      </p:sp>
      <p:sp>
        <p:nvSpPr>
          <p:cNvPr id="5" name="Content Placeholder 2">
            <a:extLst>
              <a:ext uri="{FF2B5EF4-FFF2-40B4-BE49-F238E27FC236}">
                <a16:creationId xmlns:a16="http://schemas.microsoft.com/office/drawing/2014/main" id="{28D7AD36-45DE-523C-3EEA-35E2A7819558}"/>
              </a:ext>
            </a:extLst>
          </p:cNvPr>
          <p:cNvSpPr txBox="1">
            <a:spLocks/>
          </p:cNvSpPr>
          <p:nvPr/>
        </p:nvSpPr>
        <p:spPr>
          <a:xfrm>
            <a:off x="1223055" y="4143602"/>
            <a:ext cx="9905999"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a:t>Existing healthcare systems rarely combine conversational AI, structured report automation, and predictive monitoring in a unified framework, validating the need for the proposed system.</a:t>
            </a:r>
            <a:endParaRPr lang="en-IN" dirty="0"/>
          </a:p>
        </p:txBody>
      </p:sp>
    </p:spTree>
    <p:extLst>
      <p:ext uri="{BB962C8B-B14F-4D97-AF65-F5344CB8AC3E}">
        <p14:creationId xmlns:p14="http://schemas.microsoft.com/office/powerpoint/2010/main" val="359414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8E16F-D3C9-E7A3-FA6E-C77DA7CF02DD}"/>
              </a:ext>
            </a:extLst>
          </p:cNvPr>
          <p:cNvSpPr>
            <a:spLocks noGrp="1"/>
          </p:cNvSpPr>
          <p:nvPr>
            <p:ph type="title"/>
          </p:nvPr>
        </p:nvSpPr>
        <p:spPr>
          <a:xfrm>
            <a:off x="2228852" y="726621"/>
            <a:ext cx="9905998" cy="1478570"/>
          </a:xfrm>
        </p:spPr>
        <p:txBody>
          <a:bodyPr/>
          <a:lstStyle/>
          <a:p>
            <a:r>
              <a:rPr lang="en-IN" dirty="0"/>
              <a:t>Methodology &amp; Implementation</a:t>
            </a:r>
          </a:p>
        </p:txBody>
      </p:sp>
      <p:sp>
        <p:nvSpPr>
          <p:cNvPr id="3" name="Content Placeholder 2">
            <a:extLst>
              <a:ext uri="{FF2B5EF4-FFF2-40B4-BE49-F238E27FC236}">
                <a16:creationId xmlns:a16="http://schemas.microsoft.com/office/drawing/2014/main" id="{C35D9E32-5DB2-760C-0654-CF6FE1FC4D9A}"/>
              </a:ext>
            </a:extLst>
          </p:cNvPr>
          <p:cNvSpPr>
            <a:spLocks noGrp="1"/>
          </p:cNvSpPr>
          <p:nvPr>
            <p:ph idx="1"/>
          </p:nvPr>
        </p:nvSpPr>
        <p:spPr>
          <a:xfrm>
            <a:off x="1141412" y="3498623"/>
            <a:ext cx="9905999" cy="3541714"/>
          </a:xfrm>
        </p:spPr>
        <p:txBody>
          <a:bodyPr/>
          <a:lstStyle/>
          <a:p>
            <a:r>
              <a:rPr lang="en-US" dirty="0"/>
              <a:t>The methodology involves user login, voice consultation initiation, speech-to-text conversion, AI-based symptom analysis, follow-up questioning, report generation, and secure storage of consultation records.</a:t>
            </a:r>
            <a:endParaRPr lang="en-IN" dirty="0"/>
          </a:p>
        </p:txBody>
      </p:sp>
      <p:sp>
        <p:nvSpPr>
          <p:cNvPr id="4" name="Title 1">
            <a:extLst>
              <a:ext uri="{FF2B5EF4-FFF2-40B4-BE49-F238E27FC236}">
                <a16:creationId xmlns:a16="http://schemas.microsoft.com/office/drawing/2014/main" id="{9DEC83C0-3610-CFF0-757F-0BC4EA1BF60B}"/>
              </a:ext>
            </a:extLst>
          </p:cNvPr>
          <p:cNvSpPr txBox="1">
            <a:spLocks/>
          </p:cNvSpPr>
          <p:nvPr/>
        </p:nvSpPr>
        <p:spPr>
          <a:xfrm>
            <a:off x="1141412" y="2205191"/>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IN" dirty="0"/>
              <a:t>System Methodology Workflow</a:t>
            </a:r>
          </a:p>
        </p:txBody>
      </p:sp>
    </p:spTree>
    <p:extLst>
      <p:ext uri="{BB962C8B-B14F-4D97-AF65-F5344CB8AC3E}">
        <p14:creationId xmlns:p14="http://schemas.microsoft.com/office/powerpoint/2010/main" val="901405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4D7C-F8A7-6ED4-3634-AF3604D7F7CD}"/>
              </a:ext>
            </a:extLst>
          </p:cNvPr>
          <p:cNvSpPr>
            <a:spLocks noGrp="1"/>
          </p:cNvSpPr>
          <p:nvPr>
            <p:ph type="title"/>
          </p:nvPr>
        </p:nvSpPr>
        <p:spPr>
          <a:xfrm>
            <a:off x="1141413" y="96003"/>
            <a:ext cx="9905998" cy="1478570"/>
          </a:xfrm>
        </p:spPr>
        <p:txBody>
          <a:bodyPr/>
          <a:lstStyle/>
          <a:p>
            <a:r>
              <a:rPr lang="en-IN" dirty="0"/>
              <a:t>System Architecture Overview</a:t>
            </a:r>
          </a:p>
        </p:txBody>
      </p:sp>
      <p:sp>
        <p:nvSpPr>
          <p:cNvPr id="3" name="Content Placeholder 2">
            <a:extLst>
              <a:ext uri="{FF2B5EF4-FFF2-40B4-BE49-F238E27FC236}">
                <a16:creationId xmlns:a16="http://schemas.microsoft.com/office/drawing/2014/main" id="{B36D8303-5224-7A89-33EB-47DE46A18B85}"/>
              </a:ext>
            </a:extLst>
          </p:cNvPr>
          <p:cNvSpPr>
            <a:spLocks noGrp="1"/>
          </p:cNvSpPr>
          <p:nvPr>
            <p:ph idx="1"/>
          </p:nvPr>
        </p:nvSpPr>
        <p:spPr>
          <a:xfrm>
            <a:off x="1141412" y="1081994"/>
            <a:ext cx="9905999" cy="3541714"/>
          </a:xfrm>
        </p:spPr>
        <p:txBody>
          <a:bodyPr/>
          <a:lstStyle/>
          <a:p>
            <a:r>
              <a:rPr lang="en-US" dirty="0"/>
              <a:t>The architecture includes frontend interaction layer, backend processing services, speech recognition engine, AI reasoning module, database storage, and authentication services working together to ensure smooth consultation flow.</a:t>
            </a:r>
          </a:p>
          <a:p>
            <a:endParaRPr lang="en-IN" dirty="0"/>
          </a:p>
        </p:txBody>
      </p:sp>
      <p:sp>
        <p:nvSpPr>
          <p:cNvPr id="6" name="Title 1">
            <a:extLst>
              <a:ext uri="{FF2B5EF4-FFF2-40B4-BE49-F238E27FC236}">
                <a16:creationId xmlns:a16="http://schemas.microsoft.com/office/drawing/2014/main" id="{DD8917C6-BE0E-EDCA-43FD-71F1E01838DA}"/>
              </a:ext>
            </a:extLst>
          </p:cNvPr>
          <p:cNvSpPr txBox="1">
            <a:spLocks/>
          </p:cNvSpPr>
          <p:nvPr/>
        </p:nvSpPr>
        <p:spPr>
          <a:xfrm>
            <a:off x="1141411" y="2689715"/>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IN" dirty="0"/>
              <a:t>Implementation Technologies Used</a:t>
            </a:r>
          </a:p>
        </p:txBody>
      </p:sp>
      <p:sp>
        <p:nvSpPr>
          <p:cNvPr id="7" name="Content Placeholder 2">
            <a:extLst>
              <a:ext uri="{FF2B5EF4-FFF2-40B4-BE49-F238E27FC236}">
                <a16:creationId xmlns:a16="http://schemas.microsoft.com/office/drawing/2014/main" id="{F328008D-B67B-C13B-D639-985A140967C4}"/>
              </a:ext>
            </a:extLst>
          </p:cNvPr>
          <p:cNvSpPr txBox="1">
            <a:spLocks/>
          </p:cNvSpPr>
          <p:nvPr/>
        </p:nvSpPr>
        <p:spPr>
          <a:xfrm>
            <a:off x="1141410" y="3838842"/>
            <a:ext cx="9905999"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IN" dirty="0"/>
              <a:t>Technologies used include Next.js and React for frontend development, </a:t>
            </a:r>
            <a:r>
              <a:rPr lang="en-IN" dirty="0" err="1"/>
              <a:t>AssemblyAI</a:t>
            </a:r>
            <a:r>
              <a:rPr lang="en-IN" dirty="0"/>
              <a:t> for speech recognition, Vapi.ai for conversational voice interaction, Neon PostgreSQL for database storage, Clerk for authentication management, and cloud deployment services.</a:t>
            </a:r>
          </a:p>
        </p:txBody>
      </p:sp>
    </p:spTree>
    <p:extLst>
      <p:ext uri="{BB962C8B-B14F-4D97-AF65-F5344CB8AC3E}">
        <p14:creationId xmlns:p14="http://schemas.microsoft.com/office/powerpoint/2010/main" val="3159118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8C0E8-0285-5C47-22D3-4A207F88E086}"/>
              </a:ext>
            </a:extLst>
          </p:cNvPr>
          <p:cNvSpPr>
            <a:spLocks noGrp="1"/>
          </p:cNvSpPr>
          <p:nvPr>
            <p:ph type="title"/>
          </p:nvPr>
        </p:nvSpPr>
        <p:spPr/>
        <p:txBody>
          <a:bodyPr/>
          <a:lstStyle/>
          <a:p>
            <a:r>
              <a:rPr lang="en-IN" dirty="0"/>
              <a:t>System Interface Demonstration</a:t>
            </a:r>
          </a:p>
        </p:txBody>
      </p:sp>
      <p:sp>
        <p:nvSpPr>
          <p:cNvPr id="3" name="Content Placeholder 2">
            <a:extLst>
              <a:ext uri="{FF2B5EF4-FFF2-40B4-BE49-F238E27FC236}">
                <a16:creationId xmlns:a16="http://schemas.microsoft.com/office/drawing/2014/main" id="{ECAE0C06-42FC-F5B6-A48F-F5D3539ABE0E}"/>
              </a:ext>
            </a:extLst>
          </p:cNvPr>
          <p:cNvSpPr>
            <a:spLocks noGrp="1"/>
          </p:cNvSpPr>
          <p:nvPr>
            <p:ph idx="1"/>
          </p:nvPr>
        </p:nvSpPr>
        <p:spPr>
          <a:xfrm>
            <a:off x="1141413" y="1658143"/>
            <a:ext cx="9905999" cy="3541714"/>
          </a:xfrm>
        </p:spPr>
        <p:txBody>
          <a:bodyPr/>
          <a:lstStyle/>
          <a:p>
            <a:r>
              <a:rPr lang="en-US" dirty="0"/>
              <a:t>System components such as login interface, consultation dashboard, voice interaction screen, generated medical report, and consultation history view.</a:t>
            </a:r>
            <a:endParaRPr lang="en-IN" dirty="0"/>
          </a:p>
        </p:txBody>
      </p:sp>
      <p:sp>
        <p:nvSpPr>
          <p:cNvPr id="6" name="Title 1">
            <a:extLst>
              <a:ext uri="{FF2B5EF4-FFF2-40B4-BE49-F238E27FC236}">
                <a16:creationId xmlns:a16="http://schemas.microsoft.com/office/drawing/2014/main" id="{45A9D003-176C-77D7-4E73-BB85B592609D}"/>
              </a:ext>
            </a:extLst>
          </p:cNvPr>
          <p:cNvSpPr txBox="1">
            <a:spLocks/>
          </p:cNvSpPr>
          <p:nvPr/>
        </p:nvSpPr>
        <p:spPr>
          <a:xfrm>
            <a:off x="1141413" y="2990055"/>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IN" dirty="0"/>
              <a:t>Key System Features</a:t>
            </a:r>
          </a:p>
        </p:txBody>
      </p:sp>
      <p:sp>
        <p:nvSpPr>
          <p:cNvPr id="7" name="Content Placeholder 2">
            <a:extLst>
              <a:ext uri="{FF2B5EF4-FFF2-40B4-BE49-F238E27FC236}">
                <a16:creationId xmlns:a16="http://schemas.microsoft.com/office/drawing/2014/main" id="{7FFC9234-BFA0-436E-0BAA-ED06ED3FA59A}"/>
              </a:ext>
            </a:extLst>
          </p:cNvPr>
          <p:cNvSpPr txBox="1">
            <a:spLocks/>
          </p:cNvSpPr>
          <p:nvPr/>
        </p:nvSpPr>
        <p:spPr>
          <a:xfrm>
            <a:off x="1141412" y="4118105"/>
            <a:ext cx="9905999"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Major features include natural voice consultation, automated report generation, predictive health alerts, secure data storage, scalable architecture, and continuous symptom monitoring capabilities.</a:t>
            </a:r>
            <a:endParaRPr lang="en-IN" dirty="0"/>
          </a:p>
        </p:txBody>
      </p:sp>
    </p:spTree>
    <p:extLst>
      <p:ext uri="{BB962C8B-B14F-4D97-AF65-F5344CB8AC3E}">
        <p14:creationId xmlns:p14="http://schemas.microsoft.com/office/powerpoint/2010/main" val="2143138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459C2B8-54E2-D23B-4535-56DC551EF0A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1413" y="992553"/>
            <a:ext cx="3726798" cy="4728308"/>
          </a:xfrm>
          <a:prstGeom prst="rect">
            <a:avLst/>
          </a:prstGeom>
          <a:noFill/>
          <a:ln>
            <a:noFill/>
          </a:ln>
        </p:spPr>
      </p:pic>
      <p:pic>
        <p:nvPicPr>
          <p:cNvPr id="5" name="Picture 4">
            <a:extLst>
              <a:ext uri="{FF2B5EF4-FFF2-40B4-BE49-F238E27FC236}">
                <a16:creationId xmlns:a16="http://schemas.microsoft.com/office/drawing/2014/main" id="{A8356603-0413-157B-4201-20BE7B4EAD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81965" y="992553"/>
            <a:ext cx="5865446" cy="4728308"/>
          </a:xfrm>
          <a:prstGeom prst="rect">
            <a:avLst/>
          </a:prstGeom>
          <a:noFill/>
          <a:ln>
            <a:noFill/>
          </a:ln>
        </p:spPr>
      </p:pic>
    </p:spTree>
    <p:extLst>
      <p:ext uri="{BB962C8B-B14F-4D97-AF65-F5344CB8AC3E}">
        <p14:creationId xmlns:p14="http://schemas.microsoft.com/office/powerpoint/2010/main" val="604291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A7B3-F253-CE11-1622-A2263E08666C}"/>
              </a:ext>
            </a:extLst>
          </p:cNvPr>
          <p:cNvSpPr>
            <a:spLocks noGrp="1"/>
          </p:cNvSpPr>
          <p:nvPr>
            <p:ph type="title"/>
          </p:nvPr>
        </p:nvSpPr>
        <p:spPr/>
        <p:txBody>
          <a:bodyPr/>
          <a:lstStyle/>
          <a:p>
            <a:pPr algn="ctr"/>
            <a:r>
              <a:rPr lang="en-IN" dirty="0"/>
              <a:t>Results</a:t>
            </a:r>
          </a:p>
        </p:txBody>
      </p:sp>
      <p:sp>
        <p:nvSpPr>
          <p:cNvPr id="3" name="Content Placeholder 2">
            <a:extLst>
              <a:ext uri="{FF2B5EF4-FFF2-40B4-BE49-F238E27FC236}">
                <a16:creationId xmlns:a16="http://schemas.microsoft.com/office/drawing/2014/main" id="{5700D2E4-1255-0830-947A-939701D20BC5}"/>
              </a:ext>
            </a:extLst>
          </p:cNvPr>
          <p:cNvSpPr>
            <a:spLocks noGrp="1"/>
          </p:cNvSpPr>
          <p:nvPr>
            <p:ph idx="1"/>
          </p:nvPr>
        </p:nvSpPr>
        <p:spPr/>
        <p:txBody>
          <a:bodyPr/>
          <a:lstStyle/>
          <a:p>
            <a:r>
              <a:rPr lang="en-US" dirty="0"/>
              <a:t>The implemented system successfully performs conversational voice consultations, generates structured medical reports automatically, and securely stores consultation history for future reference.</a:t>
            </a:r>
            <a:endParaRPr lang="en-IN" dirty="0"/>
          </a:p>
        </p:txBody>
      </p:sp>
      <p:sp>
        <p:nvSpPr>
          <p:cNvPr id="4" name="Title 1">
            <a:extLst>
              <a:ext uri="{FF2B5EF4-FFF2-40B4-BE49-F238E27FC236}">
                <a16:creationId xmlns:a16="http://schemas.microsoft.com/office/drawing/2014/main" id="{A2CA3421-A436-B6C7-1A79-BB23DFD33721}"/>
              </a:ext>
            </a:extLst>
          </p:cNvPr>
          <p:cNvSpPr txBox="1">
            <a:spLocks/>
          </p:cNvSpPr>
          <p:nvPr/>
        </p:nvSpPr>
        <p:spPr>
          <a:xfrm>
            <a:off x="1141412" y="3429000"/>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IN" dirty="0"/>
              <a:t>System Performance Evaluation</a:t>
            </a:r>
          </a:p>
        </p:txBody>
      </p:sp>
      <p:sp>
        <p:nvSpPr>
          <p:cNvPr id="5" name="Content Placeholder 2">
            <a:extLst>
              <a:ext uri="{FF2B5EF4-FFF2-40B4-BE49-F238E27FC236}">
                <a16:creationId xmlns:a16="http://schemas.microsoft.com/office/drawing/2014/main" id="{9954AF64-21EA-DA99-B167-5334DC10701C}"/>
              </a:ext>
            </a:extLst>
          </p:cNvPr>
          <p:cNvSpPr txBox="1">
            <a:spLocks/>
          </p:cNvSpPr>
          <p:nvPr/>
        </p:nvSpPr>
        <p:spPr>
          <a:xfrm>
            <a:off x="1141411" y="4468625"/>
            <a:ext cx="9905999"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Performance testing shows the system provides quick response times, handles multiple consultations efficiently, and significantly reduces consultation effort compared to manual telemedicine workflows.</a:t>
            </a:r>
            <a:endParaRPr lang="en-IN" dirty="0"/>
          </a:p>
        </p:txBody>
      </p:sp>
    </p:spTree>
    <p:extLst>
      <p:ext uri="{BB962C8B-B14F-4D97-AF65-F5344CB8AC3E}">
        <p14:creationId xmlns:p14="http://schemas.microsoft.com/office/powerpoint/2010/main" val="184672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BA158-0343-CA43-927D-7C2FEE44CC0B}"/>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id="{786B0101-1E2D-EA76-3315-23040FE16975}"/>
              </a:ext>
            </a:extLst>
          </p:cNvPr>
          <p:cNvSpPr>
            <a:spLocks noGrp="1"/>
          </p:cNvSpPr>
          <p:nvPr>
            <p:ph idx="1"/>
          </p:nvPr>
        </p:nvSpPr>
        <p:spPr/>
        <p:txBody>
          <a:bodyPr/>
          <a:lstStyle/>
          <a:p>
            <a:r>
              <a:rPr lang="en-US" dirty="0"/>
              <a:t>The proposed AI-driven healthcare framework enhances healthcare accessibility, automates consultation documentation, reduces doctor workload, and offers scalable remote healthcare support, making it suitable for future real-world deployment.</a:t>
            </a:r>
            <a:endParaRPr lang="en-IN" dirty="0"/>
          </a:p>
        </p:txBody>
      </p:sp>
    </p:spTree>
    <p:extLst>
      <p:ext uri="{BB962C8B-B14F-4D97-AF65-F5344CB8AC3E}">
        <p14:creationId xmlns:p14="http://schemas.microsoft.com/office/powerpoint/2010/main" val="2489867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A9AF-B3FF-1CAC-9FD3-290946265886}"/>
              </a:ext>
            </a:extLst>
          </p:cNvPr>
          <p:cNvSpPr>
            <a:spLocks noGrp="1"/>
          </p:cNvSpPr>
          <p:nvPr>
            <p:ph type="title"/>
          </p:nvPr>
        </p:nvSpPr>
        <p:spPr/>
        <p:txBody>
          <a:bodyPr/>
          <a:lstStyle/>
          <a:p>
            <a:pPr algn="ctr"/>
            <a:r>
              <a:rPr lang="en-IN" dirty="0"/>
              <a:t>References</a:t>
            </a:r>
          </a:p>
        </p:txBody>
      </p:sp>
      <p:sp>
        <p:nvSpPr>
          <p:cNvPr id="7" name="Rectangle 4">
            <a:extLst>
              <a:ext uri="{FF2B5EF4-FFF2-40B4-BE49-F238E27FC236}">
                <a16:creationId xmlns:a16="http://schemas.microsoft.com/office/drawing/2014/main" id="{4CD635CE-9D80-54B5-704A-31656CD0A417}"/>
              </a:ext>
            </a:extLst>
          </p:cNvPr>
          <p:cNvSpPr>
            <a:spLocks noGrp="1" noChangeArrowheads="1"/>
          </p:cNvSpPr>
          <p:nvPr>
            <p:ph idx="1"/>
          </p:nvPr>
        </p:nvSpPr>
        <p:spPr bwMode="auto">
          <a:xfrm>
            <a:off x="1141413" y="2143095"/>
            <a:ext cx="990599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Ajami, S., &amp; Bagheri-Tadi, T. (2013).</a:t>
            </a:r>
            <a:r>
              <a:rPr kumimoji="0" lang="en-US" altLang="en-US" sz="1800" b="0" i="0" u="none" strike="noStrike" cap="none" normalizeH="0" baseline="0" dirty="0">
                <a:ln>
                  <a:noFill/>
                </a:ln>
                <a:solidFill>
                  <a:schemeClr val="tx1"/>
                </a:solidFill>
                <a:effectLst/>
                <a:latin typeface="Arial" panose="020B0604020202020204" pitchFamily="34" charset="0"/>
              </a:rPr>
              <a:t> Barriers for adopting electronic health records (EHRs) by physicians. </a:t>
            </a:r>
            <a:r>
              <a:rPr kumimoji="0" lang="en-US" altLang="en-US" sz="1800" b="0" i="1" u="none" strike="noStrike" cap="none" normalizeH="0" baseline="0" dirty="0">
                <a:ln>
                  <a:noFill/>
                </a:ln>
                <a:solidFill>
                  <a:schemeClr val="tx1"/>
                </a:solidFill>
                <a:effectLst/>
                <a:latin typeface="Arial" panose="020B0604020202020204" pitchFamily="34" charset="0"/>
              </a:rPr>
              <a:t>Acta Informatica Medica</a:t>
            </a:r>
            <a:r>
              <a:rPr kumimoji="0" lang="en-US" altLang="en-US" sz="1800" b="0" i="0" u="none" strike="noStrike" cap="none" normalizeH="0" baseline="0" dirty="0">
                <a:ln>
                  <a:noFill/>
                </a:ln>
                <a:solidFill>
                  <a:schemeClr val="tx1"/>
                </a:solidFill>
                <a:effectLst/>
                <a:latin typeface="Arial" panose="020B0604020202020204" pitchFamily="34" charset="0"/>
              </a:rPr>
              <a:t>, 21(2), 129.</a:t>
            </a: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2. </a:t>
            </a:r>
            <a:r>
              <a:rPr kumimoji="0" lang="en-US" altLang="en-US" sz="1800" b="1" i="0" u="none" strike="noStrike" cap="none" normalizeH="0" baseline="0" dirty="0">
                <a:ln>
                  <a:noFill/>
                </a:ln>
                <a:solidFill>
                  <a:schemeClr val="tx1"/>
                </a:solidFill>
                <a:effectLst/>
                <a:latin typeface="Arial" panose="020B0604020202020204" pitchFamily="34" charset="0"/>
              </a:rPr>
              <a:t>Al Ghadban, Y., et al. (2023).</a:t>
            </a:r>
            <a:r>
              <a:rPr kumimoji="0" lang="en-US" altLang="en-US" sz="1800" b="0" i="0" u="none" strike="noStrike" cap="none" normalizeH="0" baseline="0" dirty="0">
                <a:ln>
                  <a:noFill/>
                </a:ln>
                <a:solidFill>
                  <a:schemeClr val="tx1"/>
                </a:solidFill>
                <a:effectLst/>
                <a:latin typeface="Arial" panose="020B0604020202020204" pitchFamily="34" charset="0"/>
              </a:rPr>
              <a:t> Transforming Healthcare Education: Harnessing Large Language Models for Frontline Health Worker Capacity Building using Retrieval-Augmented Generation. </a:t>
            </a:r>
            <a:r>
              <a:rPr kumimoji="0" lang="en-US" altLang="en-US" sz="1800" b="0" i="1" u="none" strike="noStrike" cap="none" normalizeH="0" baseline="0" dirty="0" err="1">
                <a:ln>
                  <a:noFill/>
                </a:ln>
                <a:solidFill>
                  <a:schemeClr val="tx1"/>
                </a:solidFill>
                <a:effectLst/>
                <a:latin typeface="Arial" panose="020B0604020202020204" pitchFamily="34" charset="0"/>
              </a:rPr>
              <a:t>medRxiv</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3. </a:t>
            </a:r>
            <a:r>
              <a:rPr kumimoji="0" lang="en-US" altLang="en-US" sz="1800" b="1" i="0" u="none" strike="noStrike" cap="none" normalizeH="0" baseline="0" dirty="0">
                <a:ln>
                  <a:noFill/>
                </a:ln>
                <a:solidFill>
                  <a:schemeClr val="tx1"/>
                </a:solidFill>
                <a:effectLst/>
                <a:latin typeface="Arial" panose="020B0604020202020204" pitchFamily="34" charset="0"/>
              </a:rPr>
              <a:t>Andersen, T. O., et al. (2021).</a:t>
            </a:r>
            <a:r>
              <a:rPr kumimoji="0" lang="en-US" altLang="en-US" sz="1800" b="0" i="0" u="none" strike="noStrike" cap="none" normalizeH="0" baseline="0" dirty="0">
                <a:ln>
                  <a:noFill/>
                </a:ln>
                <a:solidFill>
                  <a:schemeClr val="tx1"/>
                </a:solidFill>
                <a:effectLst/>
                <a:latin typeface="Arial" panose="020B0604020202020204" pitchFamily="34" charset="0"/>
              </a:rPr>
              <a:t> Realizing AI in Healthcare: Challenges Appearing in the Wild. </a:t>
            </a:r>
            <a:r>
              <a:rPr kumimoji="0" lang="en-US" altLang="en-US" sz="1800" b="0" i="1" u="none" strike="noStrike" cap="none" normalizeH="0" baseline="0" dirty="0">
                <a:ln>
                  <a:noFill/>
                </a:ln>
                <a:solidFill>
                  <a:schemeClr val="tx1"/>
                </a:solidFill>
                <a:effectLst/>
                <a:latin typeface="Arial" panose="020B0604020202020204" pitchFamily="34" charset="0"/>
              </a:rPr>
              <a:t>Extended Abstracts of the 2021 CHI Conference on Human Factors in Computing Systems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4. </a:t>
            </a:r>
            <a:r>
              <a:rPr kumimoji="0" lang="en-US" altLang="en-US" sz="1800" b="1" i="0" u="none" strike="noStrike" cap="none" normalizeH="0" baseline="0" dirty="0">
                <a:ln>
                  <a:noFill/>
                </a:ln>
                <a:solidFill>
                  <a:schemeClr val="tx1"/>
                </a:solidFill>
                <a:effectLst/>
                <a:latin typeface="Arial" panose="020B0604020202020204" pitchFamily="34" charset="0"/>
              </a:rPr>
              <a:t>Antoniak, M., et al. (2024).</a:t>
            </a:r>
            <a:r>
              <a:rPr kumimoji="0" lang="en-US" altLang="en-US" sz="1800" b="0" i="0" u="none" strike="noStrike" cap="none" normalizeH="0" baseline="0" dirty="0">
                <a:ln>
                  <a:noFill/>
                </a:ln>
                <a:solidFill>
                  <a:schemeClr val="tx1"/>
                </a:solidFill>
                <a:effectLst/>
                <a:latin typeface="Arial" panose="020B0604020202020204" pitchFamily="34" charset="0"/>
              </a:rPr>
              <a:t> NLP for Maternal Healthcare: Perspectives and Guiding Principles in the Age of LLMs. </a:t>
            </a:r>
            <a:r>
              <a:rPr kumimoji="0" lang="en-US" altLang="en-US" sz="1800" b="0" i="1" u="none" strike="noStrike" cap="none" normalizeH="0" baseline="0" dirty="0">
                <a:ln>
                  <a:noFill/>
                </a:ln>
                <a:solidFill>
                  <a:schemeClr val="tx1"/>
                </a:solidFill>
                <a:effectLst/>
                <a:latin typeface="Arial" panose="020B0604020202020204" pitchFamily="34" charset="0"/>
              </a:rPr>
              <a:t>Proceedings of the 2024 ACM Conference on Fairness, Accountability, and Transparency</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868810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BA796FC-4037-CB88-1533-AC65DC4DB7CE}"/>
              </a:ext>
            </a:extLst>
          </p:cNvPr>
          <p:cNvSpPr>
            <a:spLocks noGrp="1" noChangeArrowheads="1"/>
          </p:cNvSpPr>
          <p:nvPr>
            <p:ph idx="1"/>
          </p:nvPr>
        </p:nvSpPr>
        <p:spPr bwMode="auto">
          <a:xfrm>
            <a:off x="1231106" y="751346"/>
            <a:ext cx="972978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5. </a:t>
            </a:r>
            <a:r>
              <a:rPr kumimoji="0" lang="en-US" altLang="en-US" sz="1800" b="1" i="0" u="none" strike="noStrike" cap="none" normalizeH="0" baseline="0" dirty="0">
                <a:ln>
                  <a:noFill/>
                </a:ln>
                <a:solidFill>
                  <a:schemeClr val="tx1"/>
                </a:solidFill>
                <a:effectLst/>
                <a:latin typeface="Arial" panose="020B0604020202020204" pitchFamily="34" charset="0"/>
              </a:rPr>
              <a:t>Berry, A. B. L., et al. (2017).</a:t>
            </a:r>
            <a:r>
              <a:rPr kumimoji="0" lang="en-US" altLang="en-US" sz="1800" b="0" i="0" u="none" strike="noStrike" cap="none" normalizeH="0" baseline="0" dirty="0">
                <a:ln>
                  <a:noFill/>
                </a:ln>
                <a:solidFill>
                  <a:schemeClr val="tx1"/>
                </a:solidFill>
                <a:effectLst/>
                <a:latin typeface="Arial" panose="020B0604020202020204" pitchFamily="34" charset="0"/>
              </a:rPr>
              <a:t> Creating Conditions for Patients’ Values to Emergent in Clinical Conversations: Perspectives of Health Care Team Members. </a:t>
            </a:r>
            <a:r>
              <a:rPr kumimoji="0" lang="en-US" altLang="en-US" sz="1800" b="0" i="1" u="none" strike="noStrike" cap="none" normalizeH="0" baseline="0" dirty="0">
                <a:ln>
                  <a:noFill/>
                </a:ln>
                <a:solidFill>
                  <a:schemeClr val="tx1"/>
                </a:solidFill>
                <a:effectLst/>
                <a:latin typeface="Arial" panose="020B0604020202020204" pitchFamily="34" charset="0"/>
              </a:rPr>
              <a:t>Proceedings of the 2017 Conference on Designing Interactive Systems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6. </a:t>
            </a:r>
            <a:r>
              <a:rPr kumimoji="0" lang="en-US" altLang="en-US" sz="1800" b="1" i="0" u="none" strike="noStrike" cap="none" normalizeH="0" baseline="0" dirty="0">
                <a:ln>
                  <a:noFill/>
                </a:ln>
                <a:solidFill>
                  <a:schemeClr val="tx1"/>
                </a:solidFill>
                <a:effectLst/>
                <a:latin typeface="Arial" panose="020B0604020202020204" pitchFamily="34" charset="0"/>
              </a:rPr>
              <a:t>Boersma, P., &amp; </a:t>
            </a:r>
            <a:r>
              <a:rPr kumimoji="0" lang="en-US" altLang="en-US" sz="1800" b="1" i="0" u="none" strike="noStrike" cap="none" normalizeH="0" baseline="0" dirty="0" err="1">
                <a:ln>
                  <a:noFill/>
                </a:ln>
                <a:solidFill>
                  <a:schemeClr val="tx1"/>
                </a:solidFill>
                <a:effectLst/>
                <a:latin typeface="Arial" panose="020B0604020202020204" pitchFamily="34" charset="0"/>
              </a:rPr>
              <a:t>Weenink</a:t>
            </a:r>
            <a:r>
              <a:rPr kumimoji="0" lang="en-US" altLang="en-US" sz="1800" b="1" i="0" u="none" strike="noStrike" cap="none" normalizeH="0" baseline="0" dirty="0">
                <a:ln>
                  <a:noFill/>
                </a:ln>
                <a:solidFill>
                  <a:schemeClr val="tx1"/>
                </a:solidFill>
                <a:effectLst/>
                <a:latin typeface="Arial" panose="020B0604020202020204" pitchFamily="34" charset="0"/>
              </a:rPr>
              <a:t>, D. (2023).</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Praat</a:t>
            </a:r>
            <a:r>
              <a:rPr kumimoji="0" lang="en-US" altLang="en-US" sz="1800" b="0" i="0" u="none" strike="noStrike" cap="none" normalizeH="0" baseline="0" dirty="0">
                <a:ln>
                  <a:noFill/>
                </a:ln>
                <a:solidFill>
                  <a:schemeClr val="tx1"/>
                </a:solidFill>
                <a:effectLst/>
                <a:latin typeface="Arial" panose="020B0604020202020204" pitchFamily="34" charset="0"/>
              </a:rPr>
              <a:t>: doing phonetics by computer. [Online access].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7. </a:t>
            </a:r>
            <a:r>
              <a:rPr kumimoji="0" lang="en-US" altLang="en-US" sz="1800" b="1" i="0" u="none" strike="noStrike" cap="none" normalizeH="0" baseline="0" dirty="0">
                <a:ln>
                  <a:noFill/>
                </a:ln>
                <a:solidFill>
                  <a:schemeClr val="tx1"/>
                </a:solidFill>
                <a:effectLst/>
                <a:latin typeface="Arial" panose="020B0604020202020204" pitchFamily="34" charset="0"/>
              </a:rPr>
              <a:t>Boonstra, A., &amp; </a:t>
            </a:r>
            <a:r>
              <a:rPr kumimoji="0" lang="en-US" altLang="en-US" sz="1800" b="1" i="0" u="none" strike="noStrike" cap="none" normalizeH="0" baseline="0" dirty="0" err="1">
                <a:ln>
                  <a:noFill/>
                </a:ln>
                <a:solidFill>
                  <a:schemeClr val="tx1"/>
                </a:solidFill>
                <a:effectLst/>
                <a:latin typeface="Arial" panose="020B0604020202020204" pitchFamily="34" charset="0"/>
              </a:rPr>
              <a:t>Broekhuis</a:t>
            </a:r>
            <a:r>
              <a:rPr kumimoji="0" lang="en-US" altLang="en-US" sz="1800" b="1" i="0" u="none" strike="noStrike" cap="none" normalizeH="0" baseline="0" dirty="0">
                <a:ln>
                  <a:noFill/>
                </a:ln>
                <a:solidFill>
                  <a:schemeClr val="tx1"/>
                </a:solidFill>
                <a:effectLst/>
                <a:latin typeface="Arial" panose="020B0604020202020204" pitchFamily="34" charset="0"/>
              </a:rPr>
              <a:t>, M. (2010).</a:t>
            </a:r>
            <a:r>
              <a:rPr kumimoji="0" lang="en-US" altLang="en-US" sz="1800" b="0" i="0" u="none" strike="noStrike" cap="none" normalizeH="0" baseline="0" dirty="0">
                <a:ln>
                  <a:noFill/>
                </a:ln>
                <a:solidFill>
                  <a:schemeClr val="tx1"/>
                </a:solidFill>
                <a:effectLst/>
                <a:latin typeface="Arial" panose="020B0604020202020204" pitchFamily="34" charset="0"/>
              </a:rPr>
              <a:t> Barriers to the acceptance of electronic medical records by physicians from systematic review to taxonomy and interventions. </a:t>
            </a:r>
            <a:r>
              <a:rPr kumimoji="0" lang="en-US" altLang="en-US" sz="1800" b="0" i="1" u="none" strike="noStrike" cap="none" normalizeH="0" baseline="0" dirty="0">
                <a:ln>
                  <a:noFill/>
                </a:ln>
                <a:solidFill>
                  <a:schemeClr val="tx1"/>
                </a:solidFill>
                <a:effectLst/>
                <a:latin typeface="Arial" panose="020B0604020202020204" pitchFamily="34" charset="0"/>
              </a:rPr>
              <a:t>BMC Health Services Research</a:t>
            </a:r>
            <a:r>
              <a:rPr kumimoji="0" lang="en-US" altLang="en-US" sz="1800" b="0" i="0" u="none" strike="noStrike" cap="none" normalizeH="0" baseline="0" dirty="0">
                <a:ln>
                  <a:noFill/>
                </a:ln>
                <a:solidFill>
                  <a:schemeClr val="tx1"/>
                </a:solidFill>
                <a:effectLst/>
                <a:latin typeface="Arial" panose="020B0604020202020204" pitchFamily="34" charset="0"/>
              </a:rPr>
              <a:t>, 10(1), 231.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8. </a:t>
            </a:r>
            <a:r>
              <a:rPr kumimoji="0" lang="en-US" altLang="en-US" sz="1800" b="1" i="0" u="none" strike="noStrike" cap="none" normalizeH="0" baseline="0" dirty="0">
                <a:ln>
                  <a:noFill/>
                </a:ln>
                <a:solidFill>
                  <a:schemeClr val="tx1"/>
                </a:solidFill>
                <a:effectLst/>
                <a:latin typeface="Arial" panose="020B0604020202020204" pitchFamily="34" charset="0"/>
              </a:rPr>
              <a:t>Brooke, J. (1996).</a:t>
            </a:r>
            <a:r>
              <a:rPr kumimoji="0" lang="en-US" altLang="en-US" sz="1800" b="0" i="0" u="none" strike="noStrike" cap="none" normalizeH="0" baseline="0" dirty="0">
                <a:ln>
                  <a:noFill/>
                </a:ln>
                <a:solidFill>
                  <a:schemeClr val="tx1"/>
                </a:solidFill>
                <a:effectLst/>
                <a:latin typeface="Arial" panose="020B0604020202020204" pitchFamily="34" charset="0"/>
              </a:rPr>
              <a:t> SUS: A 'quick and dirty' usability scale. </a:t>
            </a:r>
            <a:r>
              <a:rPr kumimoji="0" lang="en-US" altLang="en-US" sz="1800" b="0" i="1" u="none" strike="noStrike" cap="none" normalizeH="0" baseline="0" dirty="0">
                <a:ln>
                  <a:noFill/>
                </a:ln>
                <a:solidFill>
                  <a:schemeClr val="tx1"/>
                </a:solidFill>
                <a:effectLst/>
                <a:latin typeface="Arial" panose="020B0604020202020204" pitchFamily="34" charset="0"/>
              </a:rPr>
              <a:t>Usability Evaluation in Industry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9. </a:t>
            </a:r>
            <a:r>
              <a:rPr kumimoji="0" lang="en-US" altLang="en-US" sz="1800" b="1" i="0" u="none" strike="noStrike" cap="none" normalizeH="0" baseline="0" dirty="0">
                <a:ln>
                  <a:noFill/>
                </a:ln>
                <a:solidFill>
                  <a:schemeClr val="tx1"/>
                </a:solidFill>
                <a:effectLst/>
                <a:latin typeface="Arial" panose="020B0604020202020204" pitchFamily="34" charset="0"/>
              </a:rPr>
              <a:t>Burgess, E. R., et al. (2023).</a:t>
            </a:r>
            <a:r>
              <a:rPr kumimoji="0" lang="en-US" altLang="en-US" sz="1800" b="0" i="0" u="none" strike="noStrike" cap="none" normalizeH="0" baseline="0" dirty="0">
                <a:ln>
                  <a:noFill/>
                </a:ln>
                <a:solidFill>
                  <a:schemeClr val="tx1"/>
                </a:solidFill>
                <a:effectLst/>
                <a:latin typeface="Arial" panose="020B0604020202020204" pitchFamily="34" charset="0"/>
              </a:rPr>
              <a:t> Healthcare AI Treatment Decision Support: Design Principles to Enhance Clinician Adoption and Trust. </a:t>
            </a:r>
            <a:r>
              <a:rPr kumimoji="0" lang="en-US" altLang="en-US" sz="1800" b="0" i="1" u="none" strike="noStrike" cap="none" normalizeH="0" baseline="0" dirty="0">
                <a:ln>
                  <a:noFill/>
                </a:ln>
                <a:solidFill>
                  <a:schemeClr val="tx1"/>
                </a:solidFill>
                <a:effectLst/>
                <a:latin typeface="Arial" panose="020B0604020202020204" pitchFamily="34" charset="0"/>
              </a:rPr>
              <a:t>Proceedings of the 2023 CHI Conference on Human Factors in Computing Systems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10. </a:t>
            </a:r>
            <a:r>
              <a:rPr kumimoji="0" lang="en-US" altLang="en-US" sz="1800" b="1" i="0" u="none" strike="noStrike" cap="none" normalizeH="0" baseline="0" dirty="0">
                <a:ln>
                  <a:noFill/>
                </a:ln>
                <a:solidFill>
                  <a:schemeClr val="tx1"/>
                </a:solidFill>
                <a:effectLst/>
                <a:latin typeface="Arial" panose="020B0604020202020204" pitchFamily="34" charset="0"/>
              </a:rPr>
              <a:t>Cahyo, L., &amp; Astuti, S. (2023).</a:t>
            </a:r>
            <a:r>
              <a:rPr kumimoji="0" lang="en-US" altLang="en-US" sz="1800" b="0" i="0" u="none" strike="noStrike" cap="none" normalizeH="0" baseline="0" dirty="0">
                <a:ln>
                  <a:noFill/>
                </a:ln>
                <a:solidFill>
                  <a:schemeClr val="tx1"/>
                </a:solidFill>
                <a:effectLst/>
                <a:latin typeface="Arial" panose="020B0604020202020204" pitchFamily="34" charset="0"/>
              </a:rPr>
              <a:t> Early Detection of Health Problems through Artificial Intelligence (Ai) Technology in Hospital Information Management: A Literature Review Study. </a:t>
            </a:r>
            <a:r>
              <a:rPr kumimoji="0" lang="en-US" altLang="en-US" sz="1800" b="0" i="1" u="none" strike="noStrike" cap="none" normalizeH="0" baseline="0" dirty="0">
                <a:ln>
                  <a:noFill/>
                </a:ln>
                <a:solidFill>
                  <a:schemeClr val="tx1"/>
                </a:solidFill>
                <a:effectLst/>
                <a:latin typeface="Arial" panose="020B0604020202020204" pitchFamily="34" charset="0"/>
              </a:rPr>
              <a:t>Journal of Medical and Health Studies</a:t>
            </a:r>
            <a:r>
              <a:rPr kumimoji="0" lang="en-US" altLang="en-US" sz="1800" b="0" i="0" u="none" strike="noStrike" cap="none" normalizeH="0" baseline="0" dirty="0">
                <a:ln>
                  <a:noFill/>
                </a:ln>
                <a:solidFill>
                  <a:schemeClr val="tx1"/>
                </a:solidFill>
                <a:effectLst/>
                <a:latin typeface="Arial" panose="020B0604020202020204" pitchFamily="34" charset="0"/>
              </a:rPr>
              <a:t>, 4, 37–42.</a:t>
            </a:r>
          </a:p>
        </p:txBody>
      </p:sp>
    </p:spTree>
    <p:extLst>
      <p:ext uri="{BB962C8B-B14F-4D97-AF65-F5344CB8AC3E}">
        <p14:creationId xmlns:p14="http://schemas.microsoft.com/office/powerpoint/2010/main" val="2385534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58A2693-1E47-FC40-7AF4-F5C32BD25E6B}"/>
              </a:ext>
            </a:extLst>
          </p:cNvPr>
          <p:cNvSpPr>
            <a:spLocks noGrp="1" noChangeArrowheads="1"/>
          </p:cNvSpPr>
          <p:nvPr>
            <p:ph idx="1"/>
          </p:nvPr>
        </p:nvSpPr>
        <p:spPr bwMode="auto">
          <a:xfrm>
            <a:off x="1141412" y="1718221"/>
            <a:ext cx="980794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11. </a:t>
            </a:r>
            <a:r>
              <a:rPr kumimoji="0" lang="en-US" altLang="en-US" sz="1800" b="1" i="0" u="none" strike="noStrike" cap="none" normalizeH="0" baseline="0" dirty="0">
                <a:ln>
                  <a:noFill/>
                </a:ln>
                <a:solidFill>
                  <a:schemeClr val="tx1"/>
                </a:solidFill>
                <a:effectLst/>
                <a:latin typeface="Arial" panose="020B0604020202020204" pitchFamily="34" charset="0"/>
              </a:rPr>
              <a:t>Cai, C. J., et al. (2019).</a:t>
            </a:r>
            <a:r>
              <a:rPr kumimoji="0" lang="en-US" altLang="en-US" sz="1800" b="0" i="0" u="none" strike="noStrike" cap="none" normalizeH="0" baseline="0" dirty="0">
                <a:ln>
                  <a:noFill/>
                </a:ln>
                <a:solidFill>
                  <a:schemeClr val="tx1"/>
                </a:solidFill>
                <a:effectLst/>
                <a:latin typeface="Arial" panose="020B0604020202020204" pitchFamily="34" charset="0"/>
              </a:rPr>
              <a:t> "Hello AI": Uncovering the Onboarding Needs of Medical Practitioners for Human-AI Collaborative Decision-Making. </a:t>
            </a:r>
            <a:r>
              <a:rPr kumimoji="0" lang="en-US" altLang="en-US" sz="1800" b="0" i="1" u="none" strike="noStrike" cap="none" normalizeH="0" baseline="0" dirty="0">
                <a:ln>
                  <a:noFill/>
                </a:ln>
                <a:solidFill>
                  <a:schemeClr val="tx1"/>
                </a:solidFill>
                <a:effectLst/>
                <a:latin typeface="Arial" panose="020B0604020202020204" pitchFamily="34" charset="0"/>
              </a:rPr>
              <a:t>Proc. ACM Hum.-</a:t>
            </a:r>
            <a:r>
              <a:rPr kumimoji="0" lang="en-US" altLang="en-US" sz="1800" b="0" i="1" u="none" strike="noStrike" cap="none" normalizeH="0" baseline="0" dirty="0" err="1">
                <a:ln>
                  <a:noFill/>
                </a:ln>
                <a:solidFill>
                  <a:schemeClr val="tx1"/>
                </a:solidFill>
                <a:effectLst/>
                <a:latin typeface="Arial" panose="020B0604020202020204" pitchFamily="34" charset="0"/>
              </a:rPr>
              <a:t>Comput</a:t>
            </a:r>
            <a:r>
              <a:rPr kumimoji="0" lang="en-US" altLang="en-US" sz="1800" b="0" i="1" u="none" strike="noStrike" cap="none" normalizeH="0" baseline="0" dirty="0">
                <a:ln>
                  <a:noFill/>
                </a:ln>
                <a:solidFill>
                  <a:schemeClr val="tx1"/>
                </a:solidFill>
                <a:effectLst/>
                <a:latin typeface="Arial" panose="020B0604020202020204" pitchFamily="34" charset="0"/>
              </a:rPr>
              <a:t>. Interact.</a:t>
            </a:r>
            <a:r>
              <a:rPr kumimoji="0" lang="en-US" altLang="en-US" sz="1800" b="0" i="0" u="none" strike="noStrike" cap="none" normalizeH="0" baseline="0" dirty="0">
                <a:ln>
                  <a:noFill/>
                </a:ln>
                <a:solidFill>
                  <a:schemeClr val="tx1"/>
                </a:solidFill>
                <a:effectLst/>
                <a:latin typeface="Arial" panose="020B0604020202020204" pitchFamily="34" charset="0"/>
              </a:rPr>
              <a:t>, 3, 24.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12. </a:t>
            </a:r>
            <a:r>
              <a:rPr kumimoji="0" lang="en-US" altLang="en-US" sz="1800" b="1" i="0" u="none" strike="noStrike" cap="none" normalizeH="0" baseline="0" dirty="0">
                <a:ln>
                  <a:noFill/>
                </a:ln>
                <a:solidFill>
                  <a:schemeClr val="tx1"/>
                </a:solidFill>
                <a:effectLst/>
                <a:latin typeface="Arial" panose="020B0604020202020204" pitchFamily="34" charset="0"/>
              </a:rPr>
              <a:t>Cascella, M., et al. (2023).</a:t>
            </a:r>
            <a:r>
              <a:rPr kumimoji="0" lang="en-US" altLang="en-US" sz="1800" b="0" i="0" u="none" strike="noStrike" cap="none" normalizeH="0" baseline="0" dirty="0">
                <a:ln>
                  <a:noFill/>
                </a:ln>
                <a:solidFill>
                  <a:schemeClr val="tx1"/>
                </a:solidFill>
                <a:effectLst/>
                <a:latin typeface="Arial" panose="020B0604020202020204" pitchFamily="34" charset="0"/>
              </a:rPr>
              <a:t> Evaluating the Feasibility of ChatGPT in Healthcare: An Analysis of Multiple Clinical and Research Scenarios. </a:t>
            </a:r>
            <a:r>
              <a:rPr kumimoji="0" lang="en-US" altLang="en-US" sz="1800" b="0" i="1" u="none" strike="noStrike" cap="none" normalizeH="0" baseline="0" dirty="0">
                <a:ln>
                  <a:noFill/>
                </a:ln>
                <a:solidFill>
                  <a:schemeClr val="tx1"/>
                </a:solidFill>
                <a:effectLst/>
                <a:latin typeface="Arial" panose="020B0604020202020204" pitchFamily="34" charset="0"/>
              </a:rPr>
              <a:t>Journal of Medical Systems</a:t>
            </a:r>
            <a:r>
              <a:rPr kumimoji="0" lang="en-US" altLang="en-US" sz="1800" b="0" i="0" u="none" strike="noStrike" cap="none" normalizeH="0" baseline="0" dirty="0">
                <a:ln>
                  <a:noFill/>
                </a:ln>
                <a:solidFill>
                  <a:schemeClr val="tx1"/>
                </a:solidFill>
                <a:effectLst/>
                <a:latin typeface="Arial" panose="020B0604020202020204" pitchFamily="34" charset="0"/>
              </a:rPr>
              <a:t>, 47(1), 33.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13. </a:t>
            </a:r>
            <a:r>
              <a:rPr kumimoji="0" lang="en-US" altLang="en-US" sz="1800" b="1" i="0" u="none" strike="noStrike" cap="none" normalizeH="0" baseline="0" dirty="0">
                <a:ln>
                  <a:noFill/>
                </a:ln>
                <a:solidFill>
                  <a:schemeClr val="tx1"/>
                </a:solidFill>
                <a:effectLst/>
                <a:latin typeface="Arial" panose="020B0604020202020204" pitchFamily="34" charset="0"/>
              </a:rPr>
              <a:t>Chaudhry, B. (2006).</a:t>
            </a:r>
            <a:r>
              <a:rPr kumimoji="0" lang="en-US" altLang="en-US" sz="1800" b="0" i="0" u="none" strike="noStrike" cap="none" normalizeH="0" baseline="0" dirty="0">
                <a:ln>
                  <a:noFill/>
                </a:ln>
                <a:solidFill>
                  <a:schemeClr val="tx1"/>
                </a:solidFill>
                <a:effectLst/>
                <a:latin typeface="Arial" panose="020B0604020202020204" pitchFamily="34" charset="0"/>
              </a:rPr>
              <a:t> Systematic Review: Impact of health information technology on quality, efficiency and costs of medical care. </a:t>
            </a:r>
            <a:r>
              <a:rPr kumimoji="0" lang="en-US" altLang="en-US" sz="1800" b="0" i="1" u="none" strike="noStrike" cap="none" normalizeH="0" baseline="0" dirty="0">
                <a:ln>
                  <a:noFill/>
                </a:ln>
                <a:solidFill>
                  <a:schemeClr val="tx1"/>
                </a:solidFill>
                <a:effectLst/>
                <a:latin typeface="Arial" panose="020B0604020202020204" pitchFamily="34" charset="0"/>
              </a:rPr>
              <a:t>Annals of Internal Medicine</a:t>
            </a:r>
            <a:r>
              <a:rPr kumimoji="0" lang="en-US" altLang="en-US" sz="1800" b="0" i="0" u="none" strike="noStrike" cap="none" normalizeH="0" baseline="0" dirty="0">
                <a:ln>
                  <a:noFill/>
                </a:ln>
                <a:solidFill>
                  <a:schemeClr val="tx1"/>
                </a:solidFill>
                <a:effectLst/>
                <a:latin typeface="Arial" panose="020B0604020202020204" pitchFamily="34" charset="0"/>
              </a:rPr>
              <a:t>, 144(10), 742.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14. </a:t>
            </a:r>
            <a:r>
              <a:rPr kumimoji="0" lang="en-US" altLang="en-US" sz="1800" b="1" i="0" u="none" strike="noStrike" cap="none" normalizeH="0" baseline="0" dirty="0">
                <a:ln>
                  <a:noFill/>
                </a:ln>
                <a:solidFill>
                  <a:schemeClr val="tx1"/>
                </a:solidFill>
                <a:effectLst/>
                <a:latin typeface="Arial" panose="020B0604020202020204" pitchFamily="34" charset="0"/>
              </a:rPr>
              <a:t>Chen, W., &amp; Akay, M. (2011).</a:t>
            </a:r>
            <a:r>
              <a:rPr kumimoji="0" lang="en-US" altLang="en-US" sz="1800" b="0" i="0" u="none" strike="noStrike" cap="none" normalizeH="0" baseline="0" dirty="0">
                <a:ln>
                  <a:noFill/>
                </a:ln>
                <a:solidFill>
                  <a:schemeClr val="tx1"/>
                </a:solidFill>
                <a:effectLst/>
                <a:latin typeface="Arial" panose="020B0604020202020204" pitchFamily="34" charset="0"/>
              </a:rPr>
              <a:t> Developing EMRs in Developing Countries. </a:t>
            </a:r>
            <a:r>
              <a:rPr kumimoji="0" lang="en-US" altLang="en-US" sz="1800" b="0" i="1" u="none" strike="noStrike" cap="none" normalizeH="0" baseline="0" dirty="0">
                <a:ln>
                  <a:noFill/>
                </a:ln>
                <a:solidFill>
                  <a:schemeClr val="tx1"/>
                </a:solidFill>
                <a:effectLst/>
                <a:latin typeface="Arial" panose="020B0604020202020204" pitchFamily="34" charset="0"/>
              </a:rPr>
              <a:t>IEEE Transactions on Information Technology in Biomedicine</a:t>
            </a:r>
            <a:r>
              <a:rPr kumimoji="0" lang="en-US" altLang="en-US" sz="1800" b="0" i="0" u="none" strike="noStrike" cap="none" normalizeH="0" baseline="0" dirty="0">
                <a:ln>
                  <a:noFill/>
                </a:ln>
                <a:solidFill>
                  <a:schemeClr val="tx1"/>
                </a:solidFill>
                <a:effectLst/>
                <a:latin typeface="Arial" panose="020B0604020202020204" pitchFamily="34" charset="0"/>
              </a:rPr>
              <a:t>, 15(1), 62–65.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15. </a:t>
            </a:r>
            <a:r>
              <a:rPr kumimoji="0" lang="en-US" altLang="en-US" sz="1800" b="1" i="0" u="none" strike="noStrike" cap="none" normalizeH="0" baseline="0" dirty="0">
                <a:ln>
                  <a:noFill/>
                </a:ln>
                <a:solidFill>
                  <a:schemeClr val="tx1"/>
                </a:solidFill>
                <a:effectLst/>
                <a:latin typeface="Arial" panose="020B0604020202020204" pitchFamily="34" charset="0"/>
              </a:rPr>
              <a:t>Chen, Z., et al. (2023).</a:t>
            </a:r>
            <a:r>
              <a:rPr kumimoji="0" lang="en-US" altLang="en-US" sz="1800" b="0" i="0" u="none" strike="noStrike" cap="none" normalizeH="0" baseline="0" dirty="0">
                <a:ln>
                  <a:noFill/>
                </a:ln>
                <a:solidFill>
                  <a:schemeClr val="tx1"/>
                </a:solidFill>
                <a:effectLst/>
                <a:latin typeface="Arial" panose="020B0604020202020204" pitchFamily="34" charset="0"/>
              </a:rPr>
              <a:t> MEDITRON-70B: Scaling Medical Pretraining for Large Language Models. </a:t>
            </a:r>
            <a:r>
              <a:rPr kumimoji="0" lang="en-US" altLang="en-US" sz="1800" b="0" i="1" u="none" strike="noStrike" cap="none" normalizeH="0" baseline="0" dirty="0">
                <a:ln>
                  <a:noFill/>
                </a:ln>
                <a:solidFill>
                  <a:schemeClr val="tx1"/>
                </a:solidFill>
                <a:effectLst/>
                <a:latin typeface="Arial" panose="020B0604020202020204" pitchFamily="34" charset="0"/>
              </a:rPr>
              <a:t>arXiv:2311.16079</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3945044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3.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203</TotalTime>
  <Words>1514</Words>
  <Application>Microsoft Office PowerPoint</Application>
  <PresentationFormat>Widescreen</PresentationFormat>
  <Paragraphs>89</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Rockwell</vt:lpstr>
      <vt:lpstr>Tahoma</vt:lpstr>
      <vt:lpstr>Tw Cen MT</vt:lpstr>
      <vt:lpstr>Circuit</vt:lpstr>
      <vt:lpstr>AI-Driven Voice-Based Healthcare Framework</vt:lpstr>
      <vt:lpstr>Introduction</vt:lpstr>
      <vt:lpstr>Problem Statement</vt:lpstr>
      <vt:lpstr>Motivation </vt:lpstr>
      <vt:lpstr>Objectives</vt:lpstr>
      <vt:lpstr>Literature Review</vt:lpstr>
      <vt:lpstr>Voice Interaction in Healthcare</vt:lpstr>
      <vt:lpstr>Existing Healthcare Chatbots</vt:lpstr>
      <vt:lpstr>Limitations of Current Systems</vt:lpstr>
      <vt:lpstr>Research Gap Identified</vt:lpstr>
      <vt:lpstr>Contribution of Proposed Framework</vt:lpstr>
      <vt:lpstr>Research Paper Analysis</vt:lpstr>
      <vt:lpstr>Selection of Top Research Papers</vt:lpstr>
      <vt:lpstr>Key Observations from Literature</vt:lpstr>
      <vt:lpstr>Methodology &amp; Implementation</vt:lpstr>
      <vt:lpstr>System Architecture Overview</vt:lpstr>
      <vt:lpstr>System Interface Demonstration</vt:lpstr>
      <vt:lpstr>PowerPoint Presentation</vt:lpstr>
      <vt:lpstr>Results</vt:lpstr>
      <vt:lpstr>Conclusion</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Harshini Kosuru</dc:creator>
  <cp:lastModifiedBy>Harshini Kosuru</cp:lastModifiedBy>
  <cp:revision>5</cp:revision>
  <dcterms:created xsi:type="dcterms:W3CDTF">2026-02-12T14:53:01Z</dcterms:created>
  <dcterms:modified xsi:type="dcterms:W3CDTF">2026-04-01T13:43:59Z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